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481328"/>
            <a:ext cx="82296" cy="82296"/>
          </a:xfrm>
          <a:prstGeom prst="ellipse">
            <a:avLst/>
          </a:prstGeom>
          <a:solidFill>
            <a:srgbClr val="C99B5C"/>
          </a:solidFill>
          <a:ln w="12700">
            <a:solidFill>
              <a:srgbClr val="C99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17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C4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PRICING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FLOW の価格をいくらにするか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4871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8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原価は実測、相場は公式の一次情報。</a:t>
            </a:r>
            <a:pPr indent="0" marL="0">
              <a:buNone/>
            </a:pPr>
            <a:r>
              <a:rPr lang="en-US" sz="1500" i="1" dirty="0">
                <a:solidFill>
                  <a:srgbClr val="9CC4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推測で埋めない。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971800"/>
            <a:ext cx="2926080" cy="0"/>
          </a:xfrm>
          <a:prstGeom prst="line">
            <a:avLst/>
          </a:prstGeom>
          <a:noFill/>
          <a:ln w="9525">
            <a:solidFill>
              <a:srgbClr val="2D35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108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8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2026-09-11 · 中小建設業ほか 従業員5〜50人向け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FLOW PRICING · 2026-09-11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66344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原価は実測・相場は公式一次情報 · </a:t>
            </a:r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p.1/17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3C6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E3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 — 月9,800円から、初期費用0円、AI込み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FLOW PRICING · 2026-09-11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66344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原価は実測・相場は公式一次情報 · </a:t>
            </a:r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p.2/17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417320"/>
                <a:gridCol w="1737360"/>
                <a:gridCol w="1371600"/>
                <a:gridCol w="1600200"/>
                <a:gridCol w="14630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月額（税抜）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年額 一括（20%引）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月あたり換算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実行量の目安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粗利率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梅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9,800円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94,080円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7,840円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月300往復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70%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竹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19,800円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190,080円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15,840円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月800往復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62%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松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34,800円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334,080円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27,840円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月2,000往復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55%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2839212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2743200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全プラン ユーザー数無制限。人数で課金しない。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3131820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3035808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初期費用 0円。無料トライアル 30日。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3424428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3328416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AIは別建てにせず込み。LINE領収書の読み取りも上位プランの追加課金にしない。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3717036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3621024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本文生成は全プラン同じ品質（Claude Sonnet）。差は実行量と機能で付ける。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4069080"/>
            <a:ext cx="8229600" cy="384048"/>
          </a:xfrm>
          <a:prstGeom prst="roundRect">
            <a:avLst>
              <a:gd name="adj" fmla="val 11905"/>
            </a:avLst>
          </a:prstGeom>
          <a:solidFill>
            <a:srgbClr val="E7EDF6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5216" y="4069080"/>
            <a:ext cx="7973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松の 34,800円は、中小建設SaaSの実績値（BRANU の1社あたり月25,535円、SPIDERPLUS の1社あたり月14,833円）から見た到達可能な上限。5万円超は中小建設業では別の市場になる。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3C6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METHOD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E3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調べ方 — 自己申告を採らない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FLOW PRICING · 2026-09-11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66344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原価は実測・相場は公式一次情報 · </a:t>
            </a:r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p.3/17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57200" y="1440180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280160"/>
            <a:ext cx="8065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原価は、このプロダクトのコードから実測した。プロンプトの文字数、1往復あたりのLLM呼び出し回数、どのプランがどのモデルを使うかを、実際のソースで確認している。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15668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755648"/>
            <a:ext cx="8065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単価は各社の公式価格ページから取得した。Anthropic・Google・Render・Supabase・Vercel。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91156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231136"/>
            <a:ext cx="8065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相場は公式の料金ページと、上場企業のIR開示（決算説明資料）から取った。ベンダーの宣伝記事は採用していない。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66644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706624"/>
            <a:ext cx="8065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確認できなかったものは「不明」と書いた。それらしい数値を作っていない。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82296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346704"/>
            <a:ext cx="7900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不明のまま残したもの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1792" y="3566160"/>
            <a:ext cx="7900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中小建設業の1社あたりIT支出の実額 · 建設業の売上高対IT投資比率 · インボイス／電帳法が導入に与えた影響の定量調査 · 日本の上場SaaSの最新粗利率中央値 · Gemini無料枠の具体的なレート上限（Googleが公開を停止）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3C6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COST ·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E3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原価① — 1往復あたりの実測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FLOW PRICING · 2026-09-11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66344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原価は実測・相場は公式一次情報 · </a:t>
            </a:r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p.4/17</a:t>
            </a:r>
            <a:endParaRPr lang="en-US" sz="7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48463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18872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モデル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入力 $/100万tok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出力 $/100万tok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1往復の原価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Claude Opus 5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5.00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25.00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14.41円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Claude Sonnet 5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2.00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10.00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5.76円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Claude Haiku 4.5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1.00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5.00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2.88円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0" y="1207008"/>
            <a:ext cx="32004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32704" y="1316736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1往復の入力トークン（実測）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632704" y="1517904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E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8,300</a:t>
            </a:r>
            <a:pPr indent="0" marL="0">
              <a:buNone/>
            </a:pPr>
            <a:r>
              <a:rPr lang="en-US" sz="1100" dirty="0">
                <a:solidFill>
                  <a:srgbClr val="3C6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tok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486400" y="2048256"/>
            <a:ext cx="32004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32704" y="2157984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出力トークン（典型）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632704" y="235915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E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1,200</a:t>
            </a:r>
            <a:pPr indent="0" marL="0">
              <a:buNone/>
            </a:pPr>
            <a:r>
              <a:rPr lang="en-US" sz="1100" dirty="0">
                <a:solidFill>
                  <a:srgbClr val="3C6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tok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457200" y="2912364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2788920"/>
            <a:ext cx="8065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プロンプトの実寸から算出。部署の system prompt 最大1,884文字＋共通のセキュリティ核1,205文字＋直近履歴＋ユーザー発話。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3278124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" y="3154680"/>
            <a:ext cx="8065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4.7以降は新しいトークナイザで、同じ文章でも約30%多くトークンを消費する。上の円換算はその30%増を含む。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3643884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" y="3520440"/>
            <a:ext cx="8065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RAG（資料の引用）が効くと入力は17,900トークンまで増える。原価は約1.7倍になる。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4114800"/>
            <a:ext cx="8229600" cy="384048"/>
          </a:xfrm>
          <a:prstGeom prst="roundRect">
            <a:avLst>
              <a:gd name="adj" fmla="val 11905"/>
            </a:avLst>
          </a:prstGeom>
          <a:solidFill>
            <a:srgbClr val="E7EDF6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" y="4114800"/>
            <a:ext cx="7973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為替は 1USD = 155円で計算。実勢（2026-09-11）は154.3円だが、円安側に振れたときに値付けを誤らないよう保守的に取っている。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3C6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COST ·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E3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原価② — 顧客数に関係なくかかる固定費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FLOW PRICING · 2026-09-11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66344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原価は実測・相場は公式一次情報 · </a:t>
            </a:r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p.5/17</a:t>
            </a:r>
            <a:endParaRPr lang="en-US" sz="7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22960"/>
                <a:gridCol w="5760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項目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月額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なぜ下げられないか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Vercel Pro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$20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Hobby は商用利用不可。コードを書いた人が報酬を受け取っているだけで商用扱いになる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Supabase Pro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$25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Free は1週間アクセスが無いとプロジェクトが停止する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Render workspace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$25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Hobby でも可。その場合はシート1・帯域5GB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Render compute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$7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Free は15分でスリープし、月750時間の上限がある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017520"/>
            <a:ext cx="26517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" y="312724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固定費の下限（月）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03504" y="332841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E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11,900</a:t>
            </a:r>
            <a:pPr indent="0" marL="0">
              <a:buNone/>
            </a:pPr>
            <a:r>
              <a:rPr lang="en-US" sz="1100" dirty="0">
                <a:solidFill>
                  <a:srgbClr val="3C6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円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3246120" y="3017520"/>
            <a:ext cx="26517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92424" y="312724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1社のとき 1社あたり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392424" y="332841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344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11,900</a:t>
            </a:r>
            <a:pPr indent="0" marL="0">
              <a:buNone/>
            </a:pPr>
            <a:r>
              <a:rPr lang="en-US" sz="1100" dirty="0">
                <a:solidFill>
                  <a:srgbClr val="3C6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円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6035040" y="3017520"/>
            <a:ext cx="26517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81344" y="312724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10社のとき 1社あたり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181344" y="332841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8A5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1,190</a:t>
            </a:r>
            <a:pPr indent="0" marL="0">
              <a:buNone/>
            </a:pPr>
            <a:r>
              <a:rPr lang="en-US" sz="1100" dirty="0">
                <a:solidFill>
                  <a:srgbClr val="3C6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円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457200" y="4114800"/>
            <a:ext cx="8229600" cy="384048"/>
          </a:xfrm>
          <a:prstGeom prst="roundRect">
            <a:avLst>
              <a:gd name="adj" fmla="val 11905"/>
            </a:avLst>
          </a:prstGeom>
          <a:solidFill>
            <a:srgbClr val="E7EDF6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" y="4114800"/>
            <a:ext cx="7973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固定費は顧客数に関係なくかかるので、1社目は必ず赤字になる。2社目以降で薄まる。上の粗利率はすべて10社時点の按分で計算している。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3C6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COST ·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E3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原価③ — プラン別の原価と粗利率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FLOW PRICING · 2026-09-11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66344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原価は実測・相場は公式一次情報 · </a:t>
            </a:r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p.6/17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234440"/>
                <a:gridCol w="1188720"/>
                <a:gridCol w="1691640"/>
                <a:gridCol w="1234440"/>
                <a:gridCol w="1143000"/>
                <a:gridCol w="1188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実行量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変動費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固定費の按分（10社）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原価 合計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価格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粗利率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梅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月300往復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約1,995円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1,190円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約2,940円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9,800円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70%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竹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月800往復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約6,300円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1,190円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約7,490円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19,800円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62%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松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月2,000往復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約14,500円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1,190円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約15,690円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34,800円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55%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2921508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2788920"/>
            <a:ext cx="8065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SaaSベンチマーク（342社・2025年通年）ではソフトウェア粗利率の中央値は80%、AIを組み込んだ製品は50〜60%に圧縮される。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3323844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3191256"/>
            <a:ext cx="8065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梅70% · 竹62% · 松55% は、AI原価を抱えた製品としては健全な水準に収まっている。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3726180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3593592"/>
            <a:ext cx="8065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0344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ただしこれは「エージェント化提案のOpus固定」を直した前提。直さないと梅の原価は約14,650円に跳ね、粗利率は26%まで落ちる。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4114800"/>
            <a:ext cx="8229600" cy="384048"/>
          </a:xfrm>
          <a:prstGeom prst="roundRect">
            <a:avLst>
              <a:gd name="adj" fmla="val 11905"/>
            </a:avLst>
          </a:prstGeom>
          <a:solidFill>
            <a:srgbClr val="E7EDF6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5216" y="4114800"/>
            <a:ext cx="7973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実行量は上限であって保証ではない。超えた場合はいきなり止めず、警告 → モデルの降格 → 計上のみ、の順で効かせる。顧客の業務を止めないため。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3C6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COST · FINDINGS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E3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価格をつける前に直すこと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FLOW PRICING · 2026-09-11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66344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原価は実測・相場は公式一次情報 · </a:t>
            </a:r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p.7/17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82296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167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1. エージェント化提案が、全プランで Claude Opus を呼んでいる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591056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会話の3ターン目以降ほぼ毎回発火する。1回あたり12.09円で、これは本文生成（Haiku 2.88円）の4倍。梅プランでは原価の93%を占める。一次判定を安いモデルに落とせば約1/10になる。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340864"/>
            <a:ext cx="82296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5059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2. Gemini の無料枠は、有償プランの土台にできない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72491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公式に「入力内容が Google の製品改善に使われる」と明記されている。領収書の取引先名・金額、LINEの顧客とのやり取りを扱う以上、この経路には流せない。加えてレート上限が非公開でSLAも無い。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8444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3. 画面に表示しているモデル名が、実際に動くものと違う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85876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梅は「Claude Haiku 4.5」と表示しているが Gemini flash-lite が動く。竹は「Claude Sonnet 4.6」と表示して Gemini flash が動く。3プラン中2つで、顧客が受け取っていないモデル名を出している。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3C6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MARKET ·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E3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相場① — 業務システム1本にいくら払っているか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FLOW PRICING · 2026-09-11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66344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原価は実測・相場は公式一次情報 · </a:t>
            </a:r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p.8/17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3291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用途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従業員5〜50人の企業が払っている月額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クラウド会計（freee・マネーフォワード）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2,980円 〜 8,980円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業務アプリ基盤 kintone（10名・スタンダード）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18,000円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勤怠管理（50名・全機能）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25,000円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経費精算（50名規模）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15,000円 〜 50,000円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RPA 1本（Robo-Pat・アシロボ）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40,000円 〜 120,000円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ChatGPT Business（20名・年払）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約61,000円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337560"/>
            <a:ext cx="8229600" cy="384048"/>
          </a:xfrm>
          <a:prstGeom prst="roundRect">
            <a:avLst>
              <a:gd name="adj" fmla="val 11905"/>
            </a:avLst>
          </a:prstGeom>
          <a:solidFill>
            <a:srgbClr val="E7EDF6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5216" y="3337560"/>
            <a:ext cx="7973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FLOW の比較対象は ChatGPT Business ではなく RPA。「AIとの会話の席」ではなく「部署の実務を代行する仕組み」だから。稟議の場でも、RPA1本ぶんの値段で部署がいくつも動く、という比較の方が通る。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57200" y="4046220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3931920"/>
            <a:ext cx="8065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業務システム1本の実勢レンジは月1万〜5万円。人の代替と見なされる RPA / AI席だけが月4万〜12万円まで伸びる。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4393692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4279392"/>
            <a:ext cx="8065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国内SaaSの8割以上が3プラン以内。松竹梅という設計自体は相場に合っている。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3C6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MARKET ·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E3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相場② — 建設業向けは9,800〜15,000円に収束している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FLOW PRICING · 2026-09-11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66344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原価は実測・相場は公式一次情報 · </a:t>
            </a:r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p.9/17</a:t>
            </a:r>
            <a:endParaRPr lang="en-US" sz="7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51560"/>
                <a:gridCol w="3703320"/>
                <a:gridCol w="11887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サービス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月額（税抜）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条件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初期費用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サクミル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9,800円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20アカウント込み、21件目以降 1,000円/件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ツクノビAIクラウド LIGHT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9,800円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5〜50名。LINEで写真・音声→日報／請求／原価／見積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記載なし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BRANU CAREECON Plus mini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12,000円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3,145社が契約中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—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現場ポケット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13,500円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アカウント・現場・容量すべて無制限（年契約）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要相談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ダンドリワーク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15,000円〜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1人1ID。協力会社にも個別ID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20万円〜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200400"/>
            <a:ext cx="8229600" cy="384048"/>
          </a:xfrm>
          <a:prstGeom prst="roundRect">
            <a:avLst>
              <a:gd name="adj" fmla="val 11905"/>
            </a:avLst>
          </a:prstGeom>
          <a:solidFill>
            <a:srgbClr val="E7EDF6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5216" y="3200400"/>
            <a:ext cx="7973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独立した4社以上がこの帯に収束している。月1万円は、この市場ではすでに受け入れられている入口価格であって、高くない。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57200" y="3927348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3794760"/>
            <a:ext cx="8065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57A1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ツクノビAIクラウドは、同じ「LINEで領収書→原価計上」を9,800円のオールインワン・契約縛りなしで出しており、FLOW のターゲットに正面から重なる。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4311396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4178808"/>
            <a:ext cx="8065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建設業許可業者は483,823社。うち99.5%が中小で、1〜10人が74.0%を占める。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3C6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MARKET ·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E3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相場③ — 1万円台前半に価格の断層がある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FLOW PRICING · 2026-09-11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66344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原価は実測・相場は公式一次情報 · </a:t>
            </a:r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p.10/17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BRANU（東証グロース・中小建設専業）の実測値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161848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入口プラン mini の月額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3504" y="1819656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E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12,000</a:t>
            </a:r>
            <a:pPr indent="0" marL="0">
              <a:buNone/>
            </a:pPr>
            <a:r>
              <a:rPr lang="en-US" sz="1100" dirty="0">
                <a:solidFill>
                  <a:srgbClr val="3C6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円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246120" y="150876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92424" y="161848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mini の契約社数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92424" y="1819656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E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3,145</a:t>
            </a:r>
            <a:pPr indent="0" marL="0">
              <a:buNone/>
            </a:pPr>
            <a:r>
              <a:rPr lang="en-US" sz="1100" dirty="0">
                <a:solidFill>
                  <a:srgbClr val="3C6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社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161848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1社あたり月次売上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81344" y="1819656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E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25,535</a:t>
            </a:r>
            <a:pPr indent="0" marL="0">
              <a:buNone/>
            </a:pPr>
            <a:r>
              <a:rPr lang="en-US" sz="1100" dirty="0">
                <a:solidFill>
                  <a:srgbClr val="3C6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円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BF1F3"/>
          </a:solidFill>
          <a:ln w="9525">
            <a:solidFill>
              <a:srgbClr val="E9C9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7157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44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10,000円 → 12,000円 の値上げで、月次解約率が 0.25% → 0.36%（1.4倍）に上昇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017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同社が決算説明資料で「2025年10月期の単価改定の影響」と明記している。2,000円の値上げが直ちに解約に変わる帯だということ。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781044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657600"/>
            <a:ext cx="8065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入口を9,800円に置いたのは、この断層を踏まないため。12,000円でも売れているが、断層の手前に置く方が安全。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146804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4023360"/>
            <a:ext cx="8065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参考: SPIDERPLUS は1社あたり月14,833円（1IDでは4,997円）、企業単位の月次解約率0.9%。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3C6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MARKET ·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E3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相場④ — 高く売るほど解約が跳ねる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FLOW PRICING · 2026-09-11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66344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原価は実測・相場は公式一次情報 · </a:t>
            </a:r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p.11/17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691640"/>
                <a:gridCol w="1143000"/>
                <a:gridCol w="1280160"/>
                <a:gridCol w="15544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プラン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月額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月次解約率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年換算の離脱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出典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BRANU mini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12,000円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0.36%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約4%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決算説明資料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BRANU 上位（Middle / Standard）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30,000〜100,000円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2.44%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約25%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同上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SPIDERPLUS（企業単位）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約14,833円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0.9%</a:t>
                      </a:r>
                      <a:endParaRPr lang="en-US" sz="9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約10%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決算説明資料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260604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FBF1F3"/>
          </a:solidFill>
          <a:ln w="9525">
            <a:solidFill>
              <a:srgbClr val="E9C9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70662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44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月3万円超のプランは、月次2.44% — 年に4社に1社が離れている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99923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「高単価で少数に売る」戦略が、この市場では機能していないという実測。松を34,800円に抑えたのはこのため。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3753612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3611880"/>
            <a:ext cx="8065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解約の理由として各社・各調査が挙げているのは、値上げそのもの、効果が見えないこと、現場に定着しないこと、そして顧客企業自体の消滅。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4155948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" y="4014216"/>
            <a:ext cx="8065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令和7年度に17,998社が建設業許可を失効（前年度比+51.9%）。2024年の建設業倒産は1,890件で過去10年最多。中小建設業には不可避の解約母数が構造的に存在する。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3C6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MARKET ·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E3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現場アプリと会計・台帳は、単価構造が逆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FLOW PRICING · 2026-09-11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66344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原価は実測・相場は公式一次情報 · </a:t>
            </a:r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p.12/17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337560"/>
                <a:gridCol w="33375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現場アプリ（施工管理）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会計・工事台帳・原価管理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月額レンジ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9,800 〜 33,000円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8,500 〜 40,500円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1ユーザー単価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1,200 〜 5,000円/月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8,500 〜 27,500円/月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想定人数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20〜100人（協力会社を含む）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1〜5人（経理担当）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初期費用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0 〜 20万円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0 〜 12万円。74〜130万円の買い切りも現役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契約形態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月額中心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年間契約が既定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20040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3101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FLOW は両方を持っている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場がLINEで領収書を送る「現場側」と、工事台帳・原価・インボイスの「経理側」。1人あたりで見ると経理側の単価は現場側の5〜10倍で、どちらの論理を取るかで結論が真逆になる。案Cは現場側の単価で入口を作り、機能の厚みで上位を取る形にしている。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3C6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PRICING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E3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価格の型 — 国内431サービスの実地調査から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FLOW PRICING · 2026-09-11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66344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原価は実測・相場は公式一次情報 · </a:t>
            </a:r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p.13/17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206240"/>
                <a:gridCol w="25603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論点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実勢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B1E3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FLOW の採用</a:t>
                      </a:r>
                      <a:endParaRPr lang="en-US" sz="8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プラン数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8割以上が3プラン以内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3プラン（梅・竹・松）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年額割引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設けているのは2割。設ける場合は15〜25%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20%引き（2か月無料相当）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初期費用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クラウドSaaSは0円が標準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0円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無料トライアル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国内業務SaaSの最頻値は30日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30日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課金単位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freee・MF はハイブリッド、Make・n8n はユーザー無制限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335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定額・ユーザー数無制限</a:t>
                      </a:r>
                      <a:endParaRPr lang="en-US" sz="9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296412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3154680"/>
            <a:ext cx="8065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ユーザー課金を採らない理由: 42.6%の中小企業がデジタル関連の予算枠を持っておらず、人数×単価で毎月額が動く価格は承認が通らない。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3698748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3557016"/>
            <a:ext cx="8065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さらに、会社主導で導入した企業の方が効果実感が10ポイント以上高いのに、ユーザー課金は「アカウントを増やさない」動機を生む。効果が出る使い方を価格が妨げてしまう。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4101084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3959352"/>
            <a:ext cx="8065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C66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Automation 領域で価格を公開しているのは16.7%だけ。価格を出すこと自体が差別化になる。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3C6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BARRIERS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E3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価格は、1位の障壁ではない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FLOW PRICING · 2026-09-11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66344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原価は実測・相場は公式一次情報 · </a:t>
            </a:r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p.14/17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生成AI導入の課題（商工中金 · 有効回答3,892社）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1790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具体的な活用場面が不明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1572768"/>
            <a:ext cx="3743554" cy="128016"/>
          </a:xfrm>
          <a:prstGeom prst="rect">
            <a:avLst/>
          </a:prstGeom>
          <a:solidFill>
            <a:srgbClr val="B0344B"/>
          </a:solidFill>
          <a:ln w="12700">
            <a:solidFill>
              <a:srgbClr val="B034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5179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E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35.6%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導入を推進する人材がいない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3280" y="1883664"/>
            <a:ext cx="3364992" cy="128016"/>
          </a:xfrm>
          <a:prstGeom prst="rect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1828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E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32%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13969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従業員の知識不足・心理的抵抗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83280" y="2194560"/>
            <a:ext cx="3070555" cy="128016"/>
          </a:xfrm>
          <a:prstGeom prst="rect">
            <a:avLst/>
          </a:prstGeom>
          <a:solidFill>
            <a:srgbClr val="5A91DD"/>
          </a:solidFill>
          <a:ln w="12700">
            <a:solidFill>
              <a:srgbClr val="5A91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21396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E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29.2%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24505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社内ルール整備が追いつかない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83280" y="2505456"/>
            <a:ext cx="2639416" cy="128016"/>
          </a:xfrm>
          <a:prstGeom prst="rect">
            <a:avLst/>
          </a:prstGeom>
          <a:solidFill>
            <a:srgbClr val="5A91DD"/>
          </a:solidFill>
          <a:ln w="12700">
            <a:solidFill>
              <a:srgbClr val="5A91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24505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E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25.1%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276148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導入予算や時間を確保できない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83280" y="2816352"/>
            <a:ext cx="2040026" cy="128016"/>
          </a:xfrm>
          <a:prstGeom prst="rect">
            <a:avLst/>
          </a:prstGeom>
          <a:solidFill>
            <a:srgbClr val="4D6488"/>
          </a:solidFill>
          <a:ln w="12700">
            <a:solidFill>
              <a:srgbClr val="4D6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7614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E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19.4%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154680"/>
            <a:ext cx="8229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25526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価格を1,000円下げるより効くこと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589020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520440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建設業の成果物サンプルを出す。中小機構の調査で「不足している情報」の1位は成功事例・活用事例（83.3%）。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40080" y="3808476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3739896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価格を公開する。Automation 領域の公開率は16.7%しかない。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40080" y="4027932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39593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補助金の導線を作る。希望する支援策の1位は補助金・助成金（59.3%）。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3C6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SUBSIDY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E3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デジタル化・AI導入補助金2026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FLOW PRICING · 2026-09-11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66344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原価は実測・相場は公式一次情報 · </a:t>
            </a:r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p.15/17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57200" y="1421892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280160"/>
            <a:ext cx="8065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IT導入補助金が2026年から改称され、生成AI・AIエージェントが明確に補助対象になった。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42516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700784"/>
            <a:ext cx="8065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クラウド利用料は最大2年分が補助対象。導入コンサルティング・導入設定・研修・保守サポートも対象に含まれる。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63140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121408"/>
            <a:ext cx="8065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通常枠の補助率は1/2以内。低賃金雇用従業員が30%以上の事業者は2/3以内。補助額は5万円から450万円。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262432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梅の月額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03504" y="2825496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E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9,800</a:t>
            </a:r>
            <a:pPr indent="0" marL="0">
              <a:buNone/>
            </a:pPr>
            <a:r>
              <a:rPr lang="en-US" sz="1100" dirty="0">
                <a:solidFill>
                  <a:srgbClr val="3C6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円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3246120" y="251460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92424" y="262432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補助率1/2なら実質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92424" y="2825496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8A5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4,900</a:t>
            </a:r>
            <a:pPr indent="0" marL="0">
              <a:buNone/>
            </a:pPr>
            <a:r>
              <a:rPr lang="en-US" sz="1100" dirty="0">
                <a:solidFill>
                  <a:srgbClr val="3C6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円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6035040" y="251460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1344" y="262432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補助率2/3なら実質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81344" y="2825496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8A5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3,267</a:t>
            </a:r>
            <a:pPr indent="0" marL="0">
              <a:buNone/>
            </a:pPr>
            <a:r>
              <a:rPr lang="en-US" sz="1100" dirty="0">
                <a:solidFill>
                  <a:srgbClr val="3C6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円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384048"/>
          </a:xfrm>
          <a:prstGeom prst="roundRect">
            <a:avLst>
              <a:gd name="adj" fmla="val 11905"/>
            </a:avLst>
          </a:prstGeom>
          <a:solidFill>
            <a:srgbClr val="E7EDF6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3611880"/>
            <a:ext cx="7973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価格ページに載せるなら「デジタル化・AI導入補助金2026の補助対象です（採択を保証するものではありません）」と併記する。断定すると誤解を生む。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東京商工会議所の調査では、希望する支援策の1位が補助金・助成金で59.3%。建設業を対象にしたJICEの調査でも、補助金の活用希望が55.0%（活用済は23.3%）。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3C6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E3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決めたこと、次にやること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FLOW PRICING · 2026-09-11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66344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原価は実測・相場は公式一次情報 · </a:t>
            </a:r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p.16/17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1673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決めたこと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668780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591056"/>
            <a:ext cx="3447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案C — 9,800 / 19,800 / 34,800円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1906524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828800"/>
            <a:ext cx="3447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初期費用 0円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144268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066544"/>
            <a:ext cx="3447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AIは別建てにせず込み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382012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304288"/>
            <a:ext cx="3447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年額は20%引き、トライアル30日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1207008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BF1F3"/>
          </a:solidFill>
          <a:ln w="9525">
            <a:solidFill>
              <a:srgbClr val="E9C9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31673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344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価格を載せる前に直すこと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1714500"/>
            <a:ext cx="64008" cy="64008"/>
          </a:xfrm>
          <a:prstGeom prst="ellipse">
            <a:avLst/>
          </a:prstGeom>
          <a:solidFill>
            <a:srgbClr val="B0344B"/>
          </a:solidFill>
          <a:ln w="12700">
            <a:solidFill>
              <a:srgbClr val="B034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56632" y="1627632"/>
            <a:ext cx="3447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エージェント化提案のOpus固定を外す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92040" y="1988820"/>
            <a:ext cx="64008" cy="64008"/>
          </a:xfrm>
          <a:prstGeom prst="ellipse">
            <a:avLst/>
          </a:prstGeom>
          <a:solidFill>
            <a:srgbClr val="B0344B"/>
          </a:solidFill>
          <a:ln w="12700">
            <a:solidFill>
              <a:srgbClr val="B034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56632" y="1901952"/>
            <a:ext cx="3447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Gemini無料枠から離脱する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92040" y="2263140"/>
            <a:ext cx="64008" cy="64008"/>
          </a:xfrm>
          <a:prstGeom prst="ellipse">
            <a:avLst/>
          </a:prstGeom>
          <a:solidFill>
            <a:srgbClr val="B0344B"/>
          </a:solidFill>
          <a:ln w="12700">
            <a:solidFill>
              <a:srgbClr val="B034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56632" y="2176272"/>
            <a:ext cx="3447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表示モデル名を実態に合わせる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27889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そのあとの実装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232404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3108960"/>
            <a:ext cx="8065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プラン定義を1か所にまとめる。実行量・メンバー数・ストレージ容量・モデルを同じ表に乗せ、散らばらせない。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598164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8065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Stripe を組み込む。Checkout と Billing Portal と Webhook の3本だけ。キーが無い環境でもアプリが壊れない形にする。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963924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3840480"/>
            <a:ext cx="8065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上限に達しても止めない。警告 → モデルの降格 → 計上のみ、の順で効かせる。顧客の業務を止めないため。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3C66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E3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9525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FLOW PRICING · 2026-09-11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663440" y="4846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原価は実測・相場は公式一次情報 · </a:t>
            </a:r>
            <a:pPr algn="r" indent="0" marL="0">
              <a:buNone/>
            </a:pPr>
            <a:r>
              <a:rPr lang="en-US" sz="750" dirty="0">
                <a:solidFill>
                  <a:srgbClr val="4D6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p.17/17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57200" y="1321308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234440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単価 — Anthropic 公式価格ページ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586484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499616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単価 — Google Gemini API 公式価格ページ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851660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764792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インフラ — Render / Supabase / Vercel 公式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116836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029968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相場 — サクミル / 現場ポケット / Kizuku 公式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382012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295144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相場 — ダンドリワーク / 蔵衛門 / どっと原価 公式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647188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560320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相場 — 勘定奉行 / PCA / アイピア 公式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2912364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2825496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相場 — freee / マネーフォワード / kintone 公式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177540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090672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AI上乗せ — ツクノビAIクラウド / バレーナ 公式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1321308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234440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IR — BRANU 2026年10月期2Q 決算説明資料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1586484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1499616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IR — SPIDERPLUS FY2024.Q4 決算説明資料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1851660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1764792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調査 — 商工中金「中小企業の生成AIの利用にかかる調査」n=3,892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2116836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2029968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調査 — 東京商工会議所「デジタルシフト・DX実態調査」n=1,218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09160" y="2382012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2295144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調査 — 中小機構「中小企業のAI等の利活用に係る実態調査」n=1,647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160" y="2647188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2560320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統計 — 国土交通省 建設業許可業者数（令和8年3月末）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2912364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73752" y="2825496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統計 — 国土交通省 令和6年度 建設業構造実態調査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09160" y="3177540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73752" y="3090672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ベンチマーク — 2026 SaaS &amp; AI Performance Benchmarks（342社）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3442716"/>
            <a:ext cx="64008" cy="64008"/>
          </a:xfrm>
          <a:prstGeom prst="ellipse">
            <a:avLst/>
          </a:prstGeom>
          <a:solidFill>
            <a:srgbClr val="3C66D9"/>
          </a:solidFill>
          <a:ln w="12700">
            <a:solidFill>
              <a:srgbClr val="3C66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3355848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制度 — 中小機構 デジタル化・AI導入補助金2026 通常枠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" y="4160520"/>
            <a:ext cx="8229600" cy="384048"/>
          </a:xfrm>
          <a:prstGeom prst="roundRect">
            <a:avLst>
              <a:gd name="adj" fmla="val 11905"/>
            </a:avLst>
          </a:prstGeom>
          <a:solidFill>
            <a:srgbClr val="E7EDF6"/>
          </a:solidFill>
          <a:ln w="9525">
            <a:solidFill>
              <a:srgbClr val="E2E4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5216" y="4160520"/>
            <a:ext cx="7973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335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原価の実測（プロンプトの文字数、1往復あたりの呼び出し回数、プラン別のモデル）は org-ai-platform のソースコードから取得。詳細は docs/pricing/ に置いた計算スクリプトを参照。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 価格設計</dc:title>
  <dc:subject>PptxGenJS Presentation</dc:subject>
  <dc:creator/>
  <cp:lastModifiedBy/>
  <cp:revision>1</cp:revision>
  <dcterms:created xsi:type="dcterms:W3CDTF">2026-09-11T06:03:40Z</dcterms:created>
  <dcterms:modified xsi:type="dcterms:W3CDTF">2026-09-11T06:03:40Z</dcterms:modified>
</cp:coreProperties>
</file>